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324" r:id="rId6"/>
    <p:sldId id="335" r:id="rId7"/>
    <p:sldId id="334" r:id="rId8"/>
    <p:sldId id="336" r:id="rId9"/>
    <p:sldId id="333" r:id="rId10"/>
    <p:sldId id="339" r:id="rId11"/>
    <p:sldId id="337" r:id="rId12"/>
    <p:sldId id="34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4667" autoAdjust="0"/>
  </p:normalViewPr>
  <p:slideViewPr>
    <p:cSldViewPr snapToGrid="0">
      <p:cViewPr varScale="1">
        <p:scale>
          <a:sx n="78" d="100"/>
          <a:sy n="78" d="100"/>
        </p:scale>
        <p:origin x="1138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A93498-009D-41DA-8515-F884E79DB17C}" type="doc">
      <dgm:prSet loTypeId="urn:microsoft.com/office/officeart/2005/8/layout/vProcess5" loCatId="process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793B98AA-F804-4229-BFF9-015B0A3D5B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Containerized Services </a:t>
          </a:r>
        </a:p>
      </dgm:t>
    </dgm:pt>
    <dgm:pt modelId="{94DBFDB8-55FF-4A61-BCA5-A7F30A52F51B}" type="parTrans" cxnId="{8907FE0C-4278-4B46-B99C-05006855FD20}">
      <dgm:prSet/>
      <dgm:spPr/>
      <dgm:t>
        <a:bodyPr/>
        <a:lstStyle/>
        <a:p>
          <a:endParaRPr lang="en-US"/>
        </a:p>
      </dgm:t>
    </dgm:pt>
    <dgm:pt modelId="{930B395B-477A-46DC-9BAD-570BDD874CA1}" type="sibTrans" cxnId="{8907FE0C-4278-4B46-B99C-05006855FD20}">
      <dgm:prSet phldrT="01"/>
      <dgm:spPr/>
      <dgm:t>
        <a:bodyPr/>
        <a:lstStyle/>
        <a:p>
          <a:endParaRPr lang="en-US" dirty="0"/>
        </a:p>
      </dgm:t>
    </dgm:pt>
    <dgm:pt modelId="{908F15CF-5191-4C7F-8DFF-A1B442DC5CAA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MQTT Communication</a:t>
          </a:r>
        </a:p>
      </dgm:t>
    </dgm:pt>
    <dgm:pt modelId="{FE0162C1-B00E-4E5F-AC1D-DCADDB001EBD}" type="parTrans" cxnId="{D129EEE8-4A45-4F39-BE89-DCDFD2581147}">
      <dgm:prSet/>
      <dgm:spPr/>
      <dgm:t>
        <a:bodyPr/>
        <a:lstStyle/>
        <a:p>
          <a:endParaRPr lang="en-US"/>
        </a:p>
      </dgm:t>
    </dgm:pt>
    <dgm:pt modelId="{4D265A30-6A82-452B-93D5-02163F2AD475}" type="sibTrans" cxnId="{D129EEE8-4A45-4F39-BE89-DCDFD2581147}">
      <dgm:prSet phldrT="02"/>
      <dgm:spPr/>
      <dgm:t>
        <a:bodyPr/>
        <a:lstStyle/>
        <a:p>
          <a:endParaRPr lang="en-US" dirty="0"/>
        </a:p>
      </dgm:t>
    </dgm:pt>
    <dgm:pt modelId="{96FD271C-6B65-4800-980F-B5255D7DBA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Semantic model</a:t>
          </a:r>
        </a:p>
      </dgm:t>
    </dgm:pt>
    <dgm:pt modelId="{7E2EB996-036D-4168-970F-0399EA534C56}" type="parTrans" cxnId="{C456C0A7-2D63-498E-BA04-15B84ED450CB}">
      <dgm:prSet/>
      <dgm:spPr/>
      <dgm:t>
        <a:bodyPr/>
        <a:lstStyle/>
        <a:p>
          <a:endParaRPr lang="en-US"/>
        </a:p>
      </dgm:t>
    </dgm:pt>
    <dgm:pt modelId="{FE284703-DC56-4C4E-A24E-BFEF668DEA9C}" type="sibTrans" cxnId="{C456C0A7-2D63-498E-BA04-15B84ED450CB}">
      <dgm:prSet phldrT="03"/>
      <dgm:spPr/>
      <dgm:t>
        <a:bodyPr/>
        <a:lstStyle/>
        <a:p>
          <a:endParaRPr lang="en-US" dirty="0"/>
        </a:p>
      </dgm:t>
    </dgm:pt>
    <dgm:pt modelId="{956AE04C-BA5E-4C28-8455-609C211C179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REST + ASYNCAPI</a:t>
          </a:r>
        </a:p>
      </dgm:t>
    </dgm:pt>
    <dgm:pt modelId="{B9D9DE2D-5BB2-4E29-8C75-656E591279CA}" type="parTrans" cxnId="{03B1BE02-227F-484C-B1BD-3C6754368753}">
      <dgm:prSet/>
      <dgm:spPr/>
      <dgm:t>
        <a:bodyPr/>
        <a:lstStyle/>
        <a:p>
          <a:endParaRPr lang="en-US"/>
        </a:p>
      </dgm:t>
    </dgm:pt>
    <dgm:pt modelId="{D351AF17-BA1B-4482-8FAF-192016EB687F}" type="sibTrans" cxnId="{03B1BE02-227F-484C-B1BD-3C6754368753}">
      <dgm:prSet phldrT="04"/>
      <dgm:spPr/>
      <dgm:t>
        <a:bodyPr/>
        <a:lstStyle/>
        <a:p>
          <a:endParaRPr lang="en-US" dirty="0"/>
        </a:p>
      </dgm:t>
    </dgm:pt>
    <dgm:pt modelId="{C54B8314-90AB-49A7-92B4-61DF19810068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dirty="0"/>
            <a:t>Virtual Sensors, Home Assistant and Low Code Platforms</a:t>
          </a:r>
        </a:p>
      </dgm:t>
    </dgm:pt>
    <dgm:pt modelId="{4F2452E7-BF8D-4CF2-822C-4EF6A2379659}" type="parTrans" cxnId="{FB21FC1A-2811-4682-8269-688D89916A96}">
      <dgm:prSet/>
      <dgm:spPr/>
      <dgm:t>
        <a:bodyPr/>
        <a:lstStyle/>
        <a:p>
          <a:endParaRPr lang="en-US"/>
        </a:p>
      </dgm:t>
    </dgm:pt>
    <dgm:pt modelId="{A3F5990B-226C-4D10-A524-61AF63CF567D}" type="sibTrans" cxnId="{FB21FC1A-2811-4682-8269-688D89916A96}">
      <dgm:prSet phldrT="05"/>
      <dgm:spPr/>
      <dgm:t>
        <a:bodyPr/>
        <a:lstStyle/>
        <a:p>
          <a:endParaRPr lang="en-US"/>
        </a:p>
      </dgm:t>
    </dgm:pt>
    <dgm:pt modelId="{5C4ABCA5-463A-4E6D-87DC-F51B2C4B73D1}" type="pres">
      <dgm:prSet presAssocID="{11A93498-009D-41DA-8515-F884E79DB17C}" presName="outerComposite" presStyleCnt="0">
        <dgm:presLayoutVars>
          <dgm:chMax val="5"/>
          <dgm:dir/>
          <dgm:resizeHandles val="exact"/>
        </dgm:presLayoutVars>
      </dgm:prSet>
      <dgm:spPr/>
    </dgm:pt>
    <dgm:pt modelId="{2931BD7A-4095-41FC-AD6A-D8B02402469E}" type="pres">
      <dgm:prSet presAssocID="{11A93498-009D-41DA-8515-F884E79DB17C}" presName="dummyMaxCanvas" presStyleCnt="0">
        <dgm:presLayoutVars/>
      </dgm:prSet>
      <dgm:spPr/>
    </dgm:pt>
    <dgm:pt modelId="{1253D78A-EE26-4949-87F7-970B2F6E8732}" type="pres">
      <dgm:prSet presAssocID="{11A93498-009D-41DA-8515-F884E79DB17C}" presName="FiveNodes_1" presStyleLbl="node1" presStyleIdx="0" presStyleCnt="5">
        <dgm:presLayoutVars>
          <dgm:bulletEnabled val="1"/>
        </dgm:presLayoutVars>
      </dgm:prSet>
      <dgm:spPr/>
    </dgm:pt>
    <dgm:pt modelId="{601177F8-9FA5-4B8E-BF72-529E4C5D6CBB}" type="pres">
      <dgm:prSet presAssocID="{11A93498-009D-41DA-8515-F884E79DB17C}" presName="FiveNodes_2" presStyleLbl="node1" presStyleIdx="1" presStyleCnt="5">
        <dgm:presLayoutVars>
          <dgm:bulletEnabled val="1"/>
        </dgm:presLayoutVars>
      </dgm:prSet>
      <dgm:spPr/>
    </dgm:pt>
    <dgm:pt modelId="{08AEE2B9-D66B-47D3-845B-F60E88099D91}" type="pres">
      <dgm:prSet presAssocID="{11A93498-009D-41DA-8515-F884E79DB17C}" presName="FiveNodes_3" presStyleLbl="node1" presStyleIdx="2" presStyleCnt="5">
        <dgm:presLayoutVars>
          <dgm:bulletEnabled val="1"/>
        </dgm:presLayoutVars>
      </dgm:prSet>
      <dgm:spPr/>
    </dgm:pt>
    <dgm:pt modelId="{B3A46571-1F49-446A-9D68-A062AA4B59B9}" type="pres">
      <dgm:prSet presAssocID="{11A93498-009D-41DA-8515-F884E79DB17C}" presName="FiveNodes_4" presStyleLbl="node1" presStyleIdx="3" presStyleCnt="5">
        <dgm:presLayoutVars>
          <dgm:bulletEnabled val="1"/>
        </dgm:presLayoutVars>
      </dgm:prSet>
      <dgm:spPr/>
    </dgm:pt>
    <dgm:pt modelId="{75179FB3-F54A-40B3-92CF-19AFCF0E6AE2}" type="pres">
      <dgm:prSet presAssocID="{11A93498-009D-41DA-8515-F884E79DB17C}" presName="FiveNodes_5" presStyleLbl="node1" presStyleIdx="4" presStyleCnt="5">
        <dgm:presLayoutVars>
          <dgm:bulletEnabled val="1"/>
        </dgm:presLayoutVars>
      </dgm:prSet>
      <dgm:spPr/>
    </dgm:pt>
    <dgm:pt modelId="{EEC13B8F-7A31-4089-B1A4-FE80DB463D34}" type="pres">
      <dgm:prSet presAssocID="{11A93498-009D-41DA-8515-F884E79DB17C}" presName="FiveConn_1-2" presStyleLbl="fgAccFollowNode1" presStyleIdx="0" presStyleCnt="4">
        <dgm:presLayoutVars>
          <dgm:bulletEnabled val="1"/>
        </dgm:presLayoutVars>
      </dgm:prSet>
      <dgm:spPr/>
    </dgm:pt>
    <dgm:pt modelId="{D8592667-73A9-422D-8F1E-6987FC9DB492}" type="pres">
      <dgm:prSet presAssocID="{11A93498-009D-41DA-8515-F884E79DB17C}" presName="FiveConn_2-3" presStyleLbl="fgAccFollowNode1" presStyleIdx="1" presStyleCnt="4">
        <dgm:presLayoutVars>
          <dgm:bulletEnabled val="1"/>
        </dgm:presLayoutVars>
      </dgm:prSet>
      <dgm:spPr/>
    </dgm:pt>
    <dgm:pt modelId="{2122A8EC-AF7A-4285-B28A-07AE29E4CD16}" type="pres">
      <dgm:prSet presAssocID="{11A93498-009D-41DA-8515-F884E79DB17C}" presName="FiveConn_3-4" presStyleLbl="fgAccFollowNode1" presStyleIdx="2" presStyleCnt="4">
        <dgm:presLayoutVars>
          <dgm:bulletEnabled val="1"/>
        </dgm:presLayoutVars>
      </dgm:prSet>
      <dgm:spPr/>
    </dgm:pt>
    <dgm:pt modelId="{B9CA095A-82C6-4EC3-8359-59650A70F17F}" type="pres">
      <dgm:prSet presAssocID="{11A93498-009D-41DA-8515-F884E79DB17C}" presName="FiveConn_4-5" presStyleLbl="fgAccFollowNode1" presStyleIdx="3" presStyleCnt="4">
        <dgm:presLayoutVars>
          <dgm:bulletEnabled val="1"/>
        </dgm:presLayoutVars>
      </dgm:prSet>
      <dgm:spPr/>
    </dgm:pt>
    <dgm:pt modelId="{11878B67-823B-4AED-A4E3-E1F53EACBA69}" type="pres">
      <dgm:prSet presAssocID="{11A93498-009D-41DA-8515-F884E79DB17C}" presName="FiveNodes_1_text" presStyleLbl="node1" presStyleIdx="4" presStyleCnt="5">
        <dgm:presLayoutVars>
          <dgm:bulletEnabled val="1"/>
        </dgm:presLayoutVars>
      </dgm:prSet>
      <dgm:spPr/>
    </dgm:pt>
    <dgm:pt modelId="{151474FF-E1D4-4A14-AB1D-F61B3CE943D5}" type="pres">
      <dgm:prSet presAssocID="{11A93498-009D-41DA-8515-F884E79DB17C}" presName="FiveNodes_2_text" presStyleLbl="node1" presStyleIdx="4" presStyleCnt="5">
        <dgm:presLayoutVars>
          <dgm:bulletEnabled val="1"/>
        </dgm:presLayoutVars>
      </dgm:prSet>
      <dgm:spPr/>
    </dgm:pt>
    <dgm:pt modelId="{BCB5C3DA-450C-4644-A58D-541C9D328BD8}" type="pres">
      <dgm:prSet presAssocID="{11A93498-009D-41DA-8515-F884E79DB17C}" presName="FiveNodes_3_text" presStyleLbl="node1" presStyleIdx="4" presStyleCnt="5">
        <dgm:presLayoutVars>
          <dgm:bulletEnabled val="1"/>
        </dgm:presLayoutVars>
      </dgm:prSet>
      <dgm:spPr/>
    </dgm:pt>
    <dgm:pt modelId="{83E11C0D-7BCA-44AF-8E8D-3FDC2E1AB1E8}" type="pres">
      <dgm:prSet presAssocID="{11A93498-009D-41DA-8515-F884E79DB17C}" presName="FiveNodes_4_text" presStyleLbl="node1" presStyleIdx="4" presStyleCnt="5">
        <dgm:presLayoutVars>
          <dgm:bulletEnabled val="1"/>
        </dgm:presLayoutVars>
      </dgm:prSet>
      <dgm:spPr/>
    </dgm:pt>
    <dgm:pt modelId="{E9D67DF3-3BAA-4227-8FC4-5B6F8CF46D9C}" type="pres">
      <dgm:prSet presAssocID="{11A93498-009D-41DA-8515-F884E79DB17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3B1BE02-227F-484C-B1BD-3C6754368753}" srcId="{11A93498-009D-41DA-8515-F884E79DB17C}" destId="{956AE04C-BA5E-4C28-8455-609C211C179C}" srcOrd="3" destOrd="0" parTransId="{B9D9DE2D-5BB2-4E29-8C75-656E591279CA}" sibTransId="{D351AF17-BA1B-4482-8FAF-192016EB687F}"/>
    <dgm:cxn modelId="{8907FE0C-4278-4B46-B99C-05006855FD20}" srcId="{11A93498-009D-41DA-8515-F884E79DB17C}" destId="{793B98AA-F804-4229-BFF9-015B0A3D5B4C}" srcOrd="0" destOrd="0" parTransId="{94DBFDB8-55FF-4A61-BCA5-A7F30A52F51B}" sibTransId="{930B395B-477A-46DC-9BAD-570BDD874CA1}"/>
    <dgm:cxn modelId="{14C10317-6A7D-4C25-8F5E-80559BED90B6}" type="presOf" srcId="{908F15CF-5191-4C7F-8DFF-A1B442DC5CAA}" destId="{601177F8-9FA5-4B8E-BF72-529E4C5D6CBB}" srcOrd="0" destOrd="0" presId="urn:microsoft.com/office/officeart/2005/8/layout/vProcess5"/>
    <dgm:cxn modelId="{FB21FC1A-2811-4682-8269-688D89916A96}" srcId="{11A93498-009D-41DA-8515-F884E79DB17C}" destId="{C54B8314-90AB-49A7-92B4-61DF19810068}" srcOrd="4" destOrd="0" parTransId="{4F2452E7-BF8D-4CF2-822C-4EF6A2379659}" sibTransId="{A3F5990B-226C-4D10-A524-61AF63CF567D}"/>
    <dgm:cxn modelId="{F9325626-1FCA-4564-9F7C-F49DB1C8767A}" type="presOf" srcId="{4D265A30-6A82-452B-93D5-02163F2AD475}" destId="{D8592667-73A9-422D-8F1E-6987FC9DB492}" srcOrd="0" destOrd="0" presId="urn:microsoft.com/office/officeart/2005/8/layout/vProcess5"/>
    <dgm:cxn modelId="{8D8B6567-BD7A-40E2-8937-484F641F1FA9}" type="presOf" srcId="{C54B8314-90AB-49A7-92B4-61DF19810068}" destId="{75179FB3-F54A-40B3-92CF-19AFCF0E6AE2}" srcOrd="0" destOrd="0" presId="urn:microsoft.com/office/officeart/2005/8/layout/vProcess5"/>
    <dgm:cxn modelId="{E43BAE4E-43D8-4257-9888-C265973FDE93}" type="presOf" srcId="{C54B8314-90AB-49A7-92B4-61DF19810068}" destId="{E9D67DF3-3BAA-4227-8FC4-5B6F8CF46D9C}" srcOrd="1" destOrd="0" presId="urn:microsoft.com/office/officeart/2005/8/layout/vProcess5"/>
    <dgm:cxn modelId="{E5C3554F-16B3-424C-9307-276901BED073}" type="presOf" srcId="{930B395B-477A-46DC-9BAD-570BDD874CA1}" destId="{EEC13B8F-7A31-4089-B1A4-FE80DB463D34}" srcOrd="0" destOrd="0" presId="urn:microsoft.com/office/officeart/2005/8/layout/vProcess5"/>
    <dgm:cxn modelId="{55C0D651-5A2D-4EE8-897A-15329A207376}" type="presOf" srcId="{FE284703-DC56-4C4E-A24E-BFEF668DEA9C}" destId="{2122A8EC-AF7A-4285-B28A-07AE29E4CD16}" srcOrd="0" destOrd="0" presId="urn:microsoft.com/office/officeart/2005/8/layout/vProcess5"/>
    <dgm:cxn modelId="{81AA4952-9AFB-4824-9218-01572351646C}" type="presOf" srcId="{11A93498-009D-41DA-8515-F884E79DB17C}" destId="{5C4ABCA5-463A-4E6D-87DC-F51B2C4B73D1}" srcOrd="0" destOrd="0" presId="urn:microsoft.com/office/officeart/2005/8/layout/vProcess5"/>
    <dgm:cxn modelId="{1656985A-9847-47D6-B5D0-BC2F716CEA79}" type="presOf" srcId="{956AE04C-BA5E-4C28-8455-609C211C179C}" destId="{83E11C0D-7BCA-44AF-8E8D-3FDC2E1AB1E8}" srcOrd="1" destOrd="0" presId="urn:microsoft.com/office/officeart/2005/8/layout/vProcess5"/>
    <dgm:cxn modelId="{B0EE0A86-62EB-4DB0-82A1-49D241C0CA3E}" type="presOf" srcId="{96FD271C-6B65-4800-980F-B5255D7DBA4C}" destId="{BCB5C3DA-450C-4644-A58D-541C9D328BD8}" srcOrd="1" destOrd="0" presId="urn:microsoft.com/office/officeart/2005/8/layout/vProcess5"/>
    <dgm:cxn modelId="{331A838F-CF66-4143-9E2B-25221DDA476B}" type="presOf" srcId="{D351AF17-BA1B-4482-8FAF-192016EB687F}" destId="{B9CA095A-82C6-4EC3-8359-59650A70F17F}" srcOrd="0" destOrd="0" presId="urn:microsoft.com/office/officeart/2005/8/layout/vProcess5"/>
    <dgm:cxn modelId="{9E76A2A2-C040-4947-AFC8-DBBB84C29DB9}" type="presOf" srcId="{956AE04C-BA5E-4C28-8455-609C211C179C}" destId="{B3A46571-1F49-446A-9D68-A062AA4B59B9}" srcOrd="0" destOrd="0" presId="urn:microsoft.com/office/officeart/2005/8/layout/vProcess5"/>
    <dgm:cxn modelId="{C456C0A7-2D63-498E-BA04-15B84ED450CB}" srcId="{11A93498-009D-41DA-8515-F884E79DB17C}" destId="{96FD271C-6B65-4800-980F-B5255D7DBA4C}" srcOrd="2" destOrd="0" parTransId="{7E2EB996-036D-4168-970F-0399EA534C56}" sibTransId="{FE284703-DC56-4C4E-A24E-BFEF668DEA9C}"/>
    <dgm:cxn modelId="{D8660BDF-BEDB-4119-948A-EFBAA44F6F13}" type="presOf" srcId="{793B98AA-F804-4229-BFF9-015B0A3D5B4C}" destId="{11878B67-823B-4AED-A4E3-E1F53EACBA69}" srcOrd="1" destOrd="0" presId="urn:microsoft.com/office/officeart/2005/8/layout/vProcess5"/>
    <dgm:cxn modelId="{A7A747DF-80A5-47E0-A64A-2AEEB97FAF31}" type="presOf" srcId="{96FD271C-6B65-4800-980F-B5255D7DBA4C}" destId="{08AEE2B9-D66B-47D3-845B-F60E88099D91}" srcOrd="0" destOrd="0" presId="urn:microsoft.com/office/officeart/2005/8/layout/vProcess5"/>
    <dgm:cxn modelId="{BF8220E3-D7E8-4CD5-AF14-4179FA9C873C}" type="presOf" srcId="{908F15CF-5191-4C7F-8DFF-A1B442DC5CAA}" destId="{151474FF-E1D4-4A14-AB1D-F61B3CE943D5}" srcOrd="1" destOrd="0" presId="urn:microsoft.com/office/officeart/2005/8/layout/vProcess5"/>
    <dgm:cxn modelId="{E57C7DE4-BF58-4256-8E1B-8975A5073F71}" type="presOf" srcId="{793B98AA-F804-4229-BFF9-015B0A3D5B4C}" destId="{1253D78A-EE26-4949-87F7-970B2F6E8732}" srcOrd="0" destOrd="0" presId="urn:microsoft.com/office/officeart/2005/8/layout/vProcess5"/>
    <dgm:cxn modelId="{D129EEE8-4A45-4F39-BE89-DCDFD2581147}" srcId="{11A93498-009D-41DA-8515-F884E79DB17C}" destId="{908F15CF-5191-4C7F-8DFF-A1B442DC5CAA}" srcOrd="1" destOrd="0" parTransId="{FE0162C1-B00E-4E5F-AC1D-DCADDB001EBD}" sibTransId="{4D265A30-6A82-452B-93D5-02163F2AD475}"/>
    <dgm:cxn modelId="{C1E9CB33-AAF3-409A-AEF4-F1483532DA57}" type="presParOf" srcId="{5C4ABCA5-463A-4E6D-87DC-F51B2C4B73D1}" destId="{2931BD7A-4095-41FC-AD6A-D8B02402469E}" srcOrd="0" destOrd="0" presId="urn:microsoft.com/office/officeart/2005/8/layout/vProcess5"/>
    <dgm:cxn modelId="{DBE3ADDD-4286-44BB-9920-0D10D86D9AF7}" type="presParOf" srcId="{5C4ABCA5-463A-4E6D-87DC-F51B2C4B73D1}" destId="{1253D78A-EE26-4949-87F7-970B2F6E8732}" srcOrd="1" destOrd="0" presId="urn:microsoft.com/office/officeart/2005/8/layout/vProcess5"/>
    <dgm:cxn modelId="{33198D25-D37F-47BF-B815-0D36AEF4805B}" type="presParOf" srcId="{5C4ABCA5-463A-4E6D-87DC-F51B2C4B73D1}" destId="{601177F8-9FA5-4B8E-BF72-529E4C5D6CBB}" srcOrd="2" destOrd="0" presId="urn:microsoft.com/office/officeart/2005/8/layout/vProcess5"/>
    <dgm:cxn modelId="{85216193-1F92-40FA-981C-DA7FFBF61D41}" type="presParOf" srcId="{5C4ABCA5-463A-4E6D-87DC-F51B2C4B73D1}" destId="{08AEE2B9-D66B-47D3-845B-F60E88099D91}" srcOrd="3" destOrd="0" presId="urn:microsoft.com/office/officeart/2005/8/layout/vProcess5"/>
    <dgm:cxn modelId="{6671CFE8-DD8D-4EC2-95C1-81DF41A345C4}" type="presParOf" srcId="{5C4ABCA5-463A-4E6D-87DC-F51B2C4B73D1}" destId="{B3A46571-1F49-446A-9D68-A062AA4B59B9}" srcOrd="4" destOrd="0" presId="urn:microsoft.com/office/officeart/2005/8/layout/vProcess5"/>
    <dgm:cxn modelId="{C753E3AE-ACD2-40FA-8D3B-CA53B2886E98}" type="presParOf" srcId="{5C4ABCA5-463A-4E6D-87DC-F51B2C4B73D1}" destId="{75179FB3-F54A-40B3-92CF-19AFCF0E6AE2}" srcOrd="5" destOrd="0" presId="urn:microsoft.com/office/officeart/2005/8/layout/vProcess5"/>
    <dgm:cxn modelId="{DBE4BA50-5A74-4DE3-8884-F52145DFB8E8}" type="presParOf" srcId="{5C4ABCA5-463A-4E6D-87DC-F51B2C4B73D1}" destId="{EEC13B8F-7A31-4089-B1A4-FE80DB463D34}" srcOrd="6" destOrd="0" presId="urn:microsoft.com/office/officeart/2005/8/layout/vProcess5"/>
    <dgm:cxn modelId="{C707534A-AE62-4706-AE77-26BEAF6FD99C}" type="presParOf" srcId="{5C4ABCA5-463A-4E6D-87DC-F51B2C4B73D1}" destId="{D8592667-73A9-422D-8F1E-6987FC9DB492}" srcOrd="7" destOrd="0" presId="urn:microsoft.com/office/officeart/2005/8/layout/vProcess5"/>
    <dgm:cxn modelId="{07C112CC-FBA5-434F-9725-B5641E13B809}" type="presParOf" srcId="{5C4ABCA5-463A-4E6D-87DC-F51B2C4B73D1}" destId="{2122A8EC-AF7A-4285-B28A-07AE29E4CD16}" srcOrd="8" destOrd="0" presId="urn:microsoft.com/office/officeart/2005/8/layout/vProcess5"/>
    <dgm:cxn modelId="{6AF54C27-FEC0-4595-97E1-338D2F2C6BC4}" type="presParOf" srcId="{5C4ABCA5-463A-4E6D-87DC-F51B2C4B73D1}" destId="{B9CA095A-82C6-4EC3-8359-59650A70F17F}" srcOrd="9" destOrd="0" presId="urn:microsoft.com/office/officeart/2005/8/layout/vProcess5"/>
    <dgm:cxn modelId="{8ED8D71C-C2D2-46F8-A070-A70382D928B7}" type="presParOf" srcId="{5C4ABCA5-463A-4E6D-87DC-F51B2C4B73D1}" destId="{11878B67-823B-4AED-A4E3-E1F53EACBA69}" srcOrd="10" destOrd="0" presId="urn:microsoft.com/office/officeart/2005/8/layout/vProcess5"/>
    <dgm:cxn modelId="{DA168EEE-2B34-499D-BA6B-BA879566D8CC}" type="presParOf" srcId="{5C4ABCA5-463A-4E6D-87DC-F51B2C4B73D1}" destId="{151474FF-E1D4-4A14-AB1D-F61B3CE943D5}" srcOrd="11" destOrd="0" presId="urn:microsoft.com/office/officeart/2005/8/layout/vProcess5"/>
    <dgm:cxn modelId="{828172D2-C41B-4119-814A-67EBAA982D4B}" type="presParOf" srcId="{5C4ABCA5-463A-4E6D-87DC-F51B2C4B73D1}" destId="{BCB5C3DA-450C-4644-A58D-541C9D328BD8}" srcOrd="12" destOrd="0" presId="urn:microsoft.com/office/officeart/2005/8/layout/vProcess5"/>
    <dgm:cxn modelId="{EC67276A-C297-4989-8332-A67828FBCFC2}" type="presParOf" srcId="{5C4ABCA5-463A-4E6D-87DC-F51B2C4B73D1}" destId="{83E11C0D-7BCA-44AF-8E8D-3FDC2E1AB1E8}" srcOrd="13" destOrd="0" presId="urn:microsoft.com/office/officeart/2005/8/layout/vProcess5"/>
    <dgm:cxn modelId="{5FE5C307-91BE-4186-9076-534B13A22171}" type="presParOf" srcId="{5C4ABCA5-463A-4E6D-87DC-F51B2C4B73D1}" destId="{E9D67DF3-3BAA-4227-8FC4-5B6F8CF46D9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3D78A-EE26-4949-87F7-970B2F6E8732}">
      <dsp:nvSpPr>
        <dsp:cNvPr id="0" name=""/>
        <dsp:cNvSpPr/>
      </dsp:nvSpPr>
      <dsp:spPr>
        <a:xfrm>
          <a:off x="0" y="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Containerized Services </a:t>
          </a:r>
        </a:p>
      </dsp:txBody>
      <dsp:txXfrm>
        <a:off x="19517" y="19517"/>
        <a:ext cx="7534679" cy="627335"/>
      </dsp:txXfrm>
    </dsp:sp>
    <dsp:sp modelId="{601177F8-9FA5-4B8E-BF72-529E4C5D6CBB}">
      <dsp:nvSpPr>
        <dsp:cNvPr id="0" name=""/>
        <dsp:cNvSpPr/>
      </dsp:nvSpPr>
      <dsp:spPr>
        <a:xfrm>
          <a:off x="622173" y="75892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MQTT Communication</a:t>
          </a:r>
        </a:p>
      </dsp:txBody>
      <dsp:txXfrm>
        <a:off x="641690" y="778437"/>
        <a:ext cx="7237361" cy="627335"/>
      </dsp:txXfrm>
    </dsp:sp>
    <dsp:sp modelId="{08AEE2B9-D66B-47D3-845B-F60E88099D91}">
      <dsp:nvSpPr>
        <dsp:cNvPr id="0" name=""/>
        <dsp:cNvSpPr/>
      </dsp:nvSpPr>
      <dsp:spPr>
        <a:xfrm>
          <a:off x="1244346" y="151784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Semantic model</a:t>
          </a:r>
        </a:p>
      </dsp:txBody>
      <dsp:txXfrm>
        <a:off x="1263863" y="1537357"/>
        <a:ext cx="7237361" cy="627335"/>
      </dsp:txXfrm>
    </dsp:sp>
    <dsp:sp modelId="{B3A46571-1F49-446A-9D68-A062AA4B59B9}">
      <dsp:nvSpPr>
        <dsp:cNvPr id="0" name=""/>
        <dsp:cNvSpPr/>
      </dsp:nvSpPr>
      <dsp:spPr>
        <a:xfrm>
          <a:off x="1866518" y="227676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REST + ASYNCAPI</a:t>
          </a:r>
        </a:p>
      </dsp:txBody>
      <dsp:txXfrm>
        <a:off x="1886035" y="2296277"/>
        <a:ext cx="7237361" cy="627335"/>
      </dsp:txXfrm>
    </dsp:sp>
    <dsp:sp modelId="{75179FB3-F54A-40B3-92CF-19AFCF0E6AE2}">
      <dsp:nvSpPr>
        <dsp:cNvPr id="0" name=""/>
        <dsp:cNvSpPr/>
      </dsp:nvSpPr>
      <dsp:spPr>
        <a:xfrm>
          <a:off x="2488692" y="3035681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Virtual Sensors, Home Assistant and Low Code Platforms</a:t>
          </a:r>
        </a:p>
      </dsp:txBody>
      <dsp:txXfrm>
        <a:off x="2508209" y="3055198"/>
        <a:ext cx="7237361" cy="627335"/>
      </dsp:txXfrm>
    </dsp:sp>
    <dsp:sp modelId="{EEC13B8F-7A31-4089-B1A4-FE80DB463D34}">
      <dsp:nvSpPr>
        <dsp:cNvPr id="0" name=""/>
        <dsp:cNvSpPr/>
      </dsp:nvSpPr>
      <dsp:spPr>
        <a:xfrm>
          <a:off x="7898568" y="48681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7996024" y="486819"/>
        <a:ext cx="238227" cy="325937"/>
      </dsp:txXfrm>
    </dsp:sp>
    <dsp:sp modelId="{D8592667-73A9-422D-8F1E-6987FC9DB492}">
      <dsp:nvSpPr>
        <dsp:cNvPr id="0" name=""/>
        <dsp:cNvSpPr/>
      </dsp:nvSpPr>
      <dsp:spPr>
        <a:xfrm>
          <a:off x="8520741" y="124573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8618197" y="1245739"/>
        <a:ext cx="238227" cy="325937"/>
      </dsp:txXfrm>
    </dsp:sp>
    <dsp:sp modelId="{2122A8EC-AF7A-4285-B28A-07AE29E4CD16}">
      <dsp:nvSpPr>
        <dsp:cNvPr id="0" name=""/>
        <dsp:cNvSpPr/>
      </dsp:nvSpPr>
      <dsp:spPr>
        <a:xfrm>
          <a:off x="9142914" y="1993553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240370" y="1993553"/>
        <a:ext cx="238227" cy="325937"/>
      </dsp:txXfrm>
    </dsp:sp>
    <dsp:sp modelId="{B9CA095A-82C6-4EC3-8359-59650A70F17F}">
      <dsp:nvSpPr>
        <dsp:cNvPr id="0" name=""/>
        <dsp:cNvSpPr/>
      </dsp:nvSpPr>
      <dsp:spPr>
        <a:xfrm>
          <a:off x="9765087" y="2759878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862543" y="2759878"/>
        <a:ext cx="238227" cy="325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6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1088427" y="3420069"/>
            <a:ext cx="7040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dirty="0"/>
              <a:t>Μήτσης Αθανάσιος</a:t>
            </a:r>
            <a:endParaRPr lang="en-US" sz="2800" dirty="0"/>
          </a:p>
          <a:p>
            <a:r>
              <a:rPr lang="el-GR" sz="2800" dirty="0"/>
              <a:t>Ρούσσης Βασίλειος</a:t>
            </a:r>
            <a:endParaRPr lang="en-US" sz="2800" dirty="0"/>
          </a:p>
          <a:p>
            <a:r>
              <a:rPr lang="el-GR" sz="2800" dirty="0" err="1"/>
              <a:t>Φιλόπουλος</a:t>
            </a:r>
            <a:r>
              <a:rPr lang="el-GR" sz="2800" dirty="0"/>
              <a:t> Δημήτριος</a:t>
            </a:r>
            <a:endParaRPr lang="en-GB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25655A97-D971-3E1B-75A4-2B6170D8F47E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2364272146"/>
              </p:ext>
            </p:extLst>
          </p:nvPr>
        </p:nvGraphicFramePr>
        <p:xfrm>
          <a:off x="685800" y="2103438"/>
          <a:ext cx="10820400" cy="3702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CB93-9078-0B9B-1D6B-10C58757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Containerized Services</a:t>
            </a:r>
            <a:endParaRPr lang="en-GB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B113798-B773-125A-6028-BB1B30AE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715" y="1435064"/>
            <a:ext cx="4699819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Υιοθέτηση αρχιτεκτονικής 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Container</a:t>
            </a:r>
            <a:r>
              <a:rPr lang="en-US" altLang="el-GR" sz="1400" b="1" dirty="0">
                <a:cs typeface="Times New Roman" panose="02020603050405020304" pitchFamily="18" charset="0"/>
              </a:rPr>
              <a:t>s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Υλοποίηση του συνόλου των υπηρεσιών μέσω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και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Compose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Απομόνωση &amp; Ανεξαρτησία: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Πλήρης διαχωρισμός των διεργασιών από το υποκείμενο λειτουργικό σύστημα.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l-GR" sz="1400" b="1" dirty="0">
                <a:cs typeface="Times New Roman" panose="02020603050405020304" pitchFamily="18" charset="0"/>
              </a:rPr>
              <a:t>Υψηλή </a:t>
            </a:r>
            <a:r>
              <a:rPr lang="el-GR" sz="1400" b="1" dirty="0" err="1">
                <a:cs typeface="Times New Roman" panose="02020603050405020304" pitchFamily="18" charset="0"/>
              </a:rPr>
              <a:t>Μεταφερσιμότητα</a:t>
            </a:r>
            <a:r>
              <a:rPr lang="el-GR" sz="1400" b="1" dirty="0">
                <a:cs typeface="Times New Roman" panose="02020603050405020304" pitchFamily="18" charset="0"/>
              </a:rPr>
              <a:t> (</a:t>
            </a:r>
            <a:r>
              <a:rPr lang="el-GR" sz="1400" b="1" dirty="0" err="1">
                <a:cs typeface="Times New Roman" panose="02020603050405020304" pitchFamily="18" charset="0"/>
              </a:rPr>
              <a:t>Portability</a:t>
            </a:r>
            <a:r>
              <a:rPr lang="el-GR" sz="1400" b="1" dirty="0">
                <a:cs typeface="Times New Roman" panose="02020603050405020304" pitchFamily="18" charset="0"/>
              </a:rPr>
              <a:t>):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endParaRPr lang="en-US" sz="1400" dirty="0"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l-GR" sz="1400" dirty="0">
                <a:cs typeface="Times New Roman" panose="02020603050405020304" pitchFamily="18" charset="0"/>
              </a:rPr>
              <a:t>Δυνατότητα απρόσκοπτης και άμεσης ανάπτυξης (</a:t>
            </a:r>
            <a:r>
              <a:rPr lang="el-GR" sz="1400" dirty="0" err="1">
                <a:cs typeface="Times New Roman" panose="02020603050405020304" pitchFamily="18" charset="0"/>
              </a:rPr>
              <a:t>deployment</a:t>
            </a:r>
            <a:r>
              <a:rPr lang="el-GR" sz="1400" dirty="0">
                <a:cs typeface="Times New Roman" panose="02020603050405020304" pitchFamily="18" charset="0"/>
              </a:rPr>
              <a:t>) του συστήματος σε οποιοδήποτε υπολογιστικό περιβάλλον (π.χ. </a:t>
            </a:r>
            <a:r>
              <a:rPr lang="el-GR" sz="1400" dirty="0" err="1">
                <a:cs typeface="Times New Roman" panose="02020603050405020304" pitchFamily="18" charset="0"/>
              </a:rPr>
              <a:t>edge</a:t>
            </a:r>
            <a:r>
              <a:rPr lang="el-GR" sz="1400" dirty="0">
                <a:cs typeface="Times New Roman" panose="02020603050405020304" pitchFamily="18" charset="0"/>
              </a:rPr>
              <a:t> συσκευές όπως το </a:t>
            </a:r>
            <a:r>
              <a:rPr lang="el-GR" sz="1400" dirty="0" err="1">
                <a:cs typeface="Times New Roman" panose="02020603050405020304" pitchFamily="18" charset="0"/>
              </a:rPr>
              <a:t>Raspberry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r>
              <a:rPr lang="el-GR" sz="1400" dirty="0" err="1">
                <a:cs typeface="Times New Roman" panose="02020603050405020304" pitchFamily="18" charset="0"/>
              </a:rPr>
              <a:t>Pi</a:t>
            </a:r>
            <a:r>
              <a:rPr lang="el-GR" sz="1400" dirty="0">
                <a:cs typeface="Times New Roman" panose="02020603050405020304" pitchFamily="18" charset="0"/>
              </a:rPr>
              <a:t>).</a:t>
            </a: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E31C22A2-895F-B521-B4DE-6E13CB4F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282" y="1431872"/>
            <a:ext cx="4711833" cy="430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9E6D-CAC4-AADE-7270-4CFA1434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MQTT Connections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BEFE9-4F51-08B4-C595-131DF76E08BC}"/>
              </a:ext>
            </a:extLst>
          </p:cNvPr>
          <p:cNvSpPr txBox="1"/>
          <p:nvPr/>
        </p:nvSpPr>
        <p:spPr>
          <a:xfrm>
            <a:off x="567159" y="1645283"/>
            <a:ext cx="3657599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Κεντρικός Άξονας Δικτύωσης:</a:t>
            </a:r>
            <a:r>
              <a:rPr lang="el-GR" sz="1400" dirty="0"/>
              <a:t> Το πρωτόκολλο MQTT λειτουργεί ως ο βασικός πυρήνας (</a:t>
            </a:r>
            <a:r>
              <a:rPr lang="el-GR" sz="1400" dirty="0" err="1"/>
              <a:t>backbone</a:t>
            </a:r>
            <a:r>
              <a:rPr lang="el-GR" sz="1400" dirty="0"/>
              <a:t>) για την ανταλλαγή δεδομένων του συστήματος.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Μοντέλο </a:t>
            </a:r>
            <a:r>
              <a:rPr lang="el-GR" sz="1400" b="1" dirty="0" err="1"/>
              <a:t>Publish</a:t>
            </a:r>
            <a:r>
              <a:rPr lang="el-GR" sz="1400" b="1" dirty="0"/>
              <a:t>/</a:t>
            </a:r>
            <a:r>
              <a:rPr lang="el-GR" sz="1400" b="1" dirty="0" err="1"/>
              <a:t>Subscribe</a:t>
            </a:r>
            <a:r>
              <a:rPr lang="el-GR" sz="1400" b="1" dirty="0"/>
              <a:t>:</a:t>
            </a:r>
            <a:r>
              <a:rPr lang="el-GR" sz="1400" dirty="0"/>
              <a:t> Υιοθέτηση ασύγχρονης αρχιτεκτονικής επικοινωνίας που εξασφαλίζει την πλήρη αποσύνδεση (</a:t>
            </a:r>
            <a:r>
              <a:rPr lang="el-GR" sz="1400" dirty="0" err="1"/>
              <a:t>decoupling</a:t>
            </a:r>
            <a:r>
              <a:rPr lang="el-GR" sz="1400" dirty="0"/>
              <a:t>) των επιμέρους υποσυστημάτων.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Επικοινωνία Πραγματικού Χρόνου:</a:t>
            </a:r>
            <a:r>
              <a:rPr lang="el-GR" sz="1400" dirty="0"/>
              <a:t> Απρόσκοπτη δρομολόγηση των μηνυμάτων μεταξύ των </a:t>
            </a:r>
            <a:r>
              <a:rPr lang="en-US" sz="1400" dirty="0"/>
              <a:t>publishers</a:t>
            </a:r>
            <a:r>
              <a:rPr lang="el-GR" sz="1400" dirty="0"/>
              <a:t> και των </a:t>
            </a:r>
            <a:r>
              <a:rPr lang="en-US" sz="1400" dirty="0"/>
              <a:t>subscribers </a:t>
            </a:r>
            <a:r>
              <a:rPr lang="el-GR" sz="1400" dirty="0"/>
              <a:t>μέσω του </a:t>
            </a:r>
            <a:r>
              <a:rPr lang="el-GR" sz="1400" dirty="0" err="1"/>
              <a:t>Mosquitto</a:t>
            </a:r>
            <a:r>
              <a:rPr lang="el-GR" sz="1400" dirty="0"/>
              <a:t> </a:t>
            </a:r>
            <a:r>
              <a:rPr lang="el-GR" sz="1400" dirty="0" err="1"/>
              <a:t>Broker</a:t>
            </a:r>
            <a:r>
              <a:rPr lang="el-GR" sz="1400" dirty="0"/>
              <a:t>.</a:t>
            </a:r>
          </a:p>
          <a:p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E76BA12-A908-78F0-A2F7-61C12C044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758" y="1645283"/>
            <a:ext cx="7769122" cy="310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53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381B-7D4E-5F8B-B1EA-5FF23AFB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</a:t>
            </a:r>
            <a:r>
              <a:rPr lang="en-GB" dirty="0" err="1"/>
              <a:t>Modeling</a:t>
            </a:r>
            <a:endParaRPr lang="en-GB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4CE94583-6A3C-74FB-87E3-33E3B7D71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8" y="1749734"/>
            <a:ext cx="7302851" cy="4238111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C45C3A36-D454-47CA-354F-7D251F3B4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40" y="1549679"/>
            <a:ext cx="4218038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Εννοιολογική Αναπαράσταση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Μετάβαση από την απλή αποστολή ακατέργαστων μετρήσεων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raw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σε δομημένη πληροφορία με σαφές πλαίσιο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Υιοθέτηση Διεθνών Προτύπων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Αξιοποίηση τεχνολογιών του Σημασιολογικού Ιστού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Semantic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Web) και εξειδικευμένων οντολογιών, όπως SOSA (αισθητήρες/παρατηρήσεις) και SAREF (συσκευές), μέσω του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μορφότυπου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JSON-LD.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Διαλειτουργικότητα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Interoperability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 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Πλήρης μηχανική κατανόηση της τοπολογίας από το σύστημα (π.χ. συσχέτιση του αισθητήρα PIR με τον συγκεκριμένο κάδο και τον περιβάλλοντα χώρο του τμήματος)</a:t>
            </a:r>
          </a:p>
        </p:txBody>
      </p:sp>
    </p:spTree>
    <p:extLst>
      <p:ext uri="{BB962C8B-B14F-4D97-AF65-F5344CB8AC3E}">
        <p14:creationId xmlns:p14="http://schemas.microsoft.com/office/powerpoint/2010/main" val="427249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9B46-488E-BC67-6249-9E0C0A1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+ ASYNCAPI</a:t>
            </a:r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2570BF42-EBC2-E85C-129B-AEB8221415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77334" y="2947890"/>
            <a:ext cx="3795712" cy="2687735"/>
          </a:xfrm>
          <a:prstGeom prst="rect">
            <a:avLst/>
          </a:prstGeom>
        </p:spPr>
      </p:pic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3261194-D6C1-90C3-54EE-1955F4B53C24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BCA4473D-CC30-D4B3-7473-09C0C9F59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975105"/>
            <a:ext cx="6595475" cy="374117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4E01C09-160F-A529-6CAD-BECE72498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925" y="1498051"/>
            <a:ext cx="441208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AsyncAPI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Ασύγχρονη (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event-driven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επικοινωνία του συστήματος μέσω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MQTT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(όπως το πώς δημοσιεύονται και λαμβάνονται τα δεδομένα των αισθητήρων σε πραγματικό χρόνο).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C784A-C656-994E-A4B7-E8501CE7D805}"/>
              </a:ext>
            </a:extLst>
          </p:cNvPr>
          <p:cNvSpPr txBox="1"/>
          <p:nvPr/>
        </p:nvSpPr>
        <p:spPr>
          <a:xfrm>
            <a:off x="4954011" y="85797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/ </a:t>
            </a: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OpenAPI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Σύγχρονο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API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μέσω του 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Swagger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UI, δείχνοντας τις διαθέσιμες κλήσεις (GET, POST) για την άμεση διαχείριση και αναζήτηση δεδομένων (π.χ. λήψη λίστας κάδων ή καταγραφή αδειάσματος).</a:t>
            </a:r>
          </a:p>
        </p:txBody>
      </p:sp>
    </p:spTree>
    <p:extLst>
      <p:ext uri="{BB962C8B-B14F-4D97-AF65-F5344CB8AC3E}">
        <p14:creationId xmlns:p14="http://schemas.microsoft.com/office/powerpoint/2010/main" val="3049535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7FCC-52B4-9C83-1A16-93728457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E634425-E55A-9AD8-F498-E7212640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(1)</a:t>
            </a:r>
            <a:br>
              <a:rPr lang="en-US" dirty="0"/>
            </a:br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9CF8794-6268-088A-29DC-747E344B3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157" y="2626026"/>
            <a:ext cx="5738357" cy="1767993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41DEBFCF-E41A-365E-53CD-C57C213BB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719" y="2048140"/>
            <a:ext cx="5087815" cy="3508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Εικονικοί Αισθητήρες (Επίπεδο Προσομοίωσης)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Mock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Sensors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Αισθητήρες που δημιουργούνται μέσω λογισμικού (mocksensors.py) και μεταδίδουν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publish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συνεχώς δ</a:t>
            </a:r>
            <a:r>
              <a:rPr lang="el-GR" sz="1200" dirty="0"/>
              <a:t>εδομένα προσομοίωσης 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(επίπεδα πλήρωσης, βάρος, κ.λπ.). Υπάρχουν για πιθανή χρήση τους σε  </a:t>
            </a:r>
            <a:r>
              <a:rPr kumimoji="0" lang="en-US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future implementations</a:t>
            </a:r>
            <a:r>
              <a:rPr kumimoji="0" lang="en-US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Βασισμένος σε Κανόνες (Επίπεδο Λογικής)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Rule-Based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Αναλύει τις ροές δεδομένων σε πραγματικό χρόνο για τον υπολογισμό δυναμικών καταστάσεων, όπως η «Ένταση Χρήσης» (π.χ. ΥΨΗΛΗ, ΚΡΙΣΙΜΗ), ενεργοποιώντας άμεσα ειδοποιήσεις στο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Node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-RED όταν ξεπερνιούνται τα καθορισμένα όρια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thresholds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Μηχανικής Μάθησης (Προγνωστικό Επίπεδο)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Machine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Learning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Χρησιμοποιεί ιστορικά μοτίβα και δεδομένα πλαισίου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όπως ώρα και ημέρα της εβδομάδας) για να εξάγει ωριαίες προβλέψεις κίνησης («υψηλή/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busy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 ή «χαμηλή/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quiet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») μαζί με έναν δείκτη βεβαιότητας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confidence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score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επιτρέποντας την προληπτική διαχείριση των απορριμμάτων.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A520F-3A9E-AA3C-03C5-375D509CEE43}"/>
              </a:ext>
            </a:extLst>
          </p:cNvPr>
          <p:cNvSpPr txBox="1"/>
          <p:nvPr/>
        </p:nvSpPr>
        <p:spPr>
          <a:xfrm>
            <a:off x="7383780" y="4394019"/>
            <a:ext cx="508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i="1" dirty="0"/>
              <a:t>Πηγή:</a:t>
            </a:r>
            <a:r>
              <a:rPr lang="el-GR" sz="1100" i="1" dirty="0"/>
              <a:t> Σημειώσεις διαλέξεων, Διάλεξη 8</a:t>
            </a:r>
            <a:endParaRPr lang="en-US" sz="1100" i="1" dirty="0"/>
          </a:p>
        </p:txBody>
      </p:sp>
    </p:spTree>
    <p:extLst>
      <p:ext uri="{BB962C8B-B14F-4D97-AF65-F5344CB8AC3E}">
        <p14:creationId xmlns:p14="http://schemas.microsoft.com/office/powerpoint/2010/main" val="392752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7F24CFB-8BB3-2631-1187-8E31A392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(2)</a:t>
            </a:r>
            <a:br>
              <a:rPr lang="en-US" dirty="0"/>
            </a:br>
            <a:endParaRPr lang="el-GR" dirty="0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457BD6C9-0DB9-5999-5D36-FD523159A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2614" y="1975105"/>
            <a:ext cx="6775078" cy="357116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CB7AADE1-41A7-016A-C018-09FC28E6B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311" y="2308940"/>
            <a:ext cx="358877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Τηλεμετρία Ζωντανά: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Απεικόνιση κατάστασης κάδου και δεδομένων από εικονικούς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mock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αισθητήρες.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Edge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AI 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Diagnostics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Άμεση προβολή προβλέψεων κίνησης και δεικτών βεβαιότητας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confidence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Διαχείριση Ειδοποιήσεων: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Κεντρικός έλεγχος και δυνατότητα άμεσης επίλυσης κρίσιμων συμβάντων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Active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Alerts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Controls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89288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D67-D87C-E20C-B16E-B79DE996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8E0467B-2D19-D982-044F-036B9A718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(3)</a:t>
            </a:r>
            <a:br>
              <a:rPr lang="en-US" dirty="0"/>
            </a:br>
            <a:endParaRPr lang="el-GR" dirty="0"/>
          </a:p>
        </p:txBody>
      </p:sp>
      <p:pic>
        <p:nvPicPr>
          <p:cNvPr id="9" name="Εικόνα 8">
            <a:extLst>
              <a:ext uri="{FF2B5EF4-FFF2-40B4-BE49-F238E27FC236}">
                <a16:creationId xmlns:a16="http://schemas.microsoft.com/office/drawing/2014/main" id="{2A0EDA79-8DFE-9CE6-CD9D-04B9A6CD8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335" y="2556387"/>
            <a:ext cx="6478405" cy="2750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432334-6DD0-A083-016B-2FA2094D9403}"/>
              </a:ext>
            </a:extLst>
          </p:cNvPr>
          <p:cNvSpPr txBox="1"/>
          <p:nvPr/>
        </p:nvSpPr>
        <p:spPr>
          <a:xfrm>
            <a:off x="491612" y="2373839"/>
            <a:ext cx="390340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b="1" dirty="0"/>
              <a:t>Επιχειρησιακός Έλεγχος (Smart </a:t>
            </a:r>
            <a:r>
              <a:rPr lang="el-GR" b="1" dirty="0" err="1"/>
              <a:t>Bin</a:t>
            </a:r>
            <a:r>
              <a:rPr lang="el-GR" b="1" dirty="0"/>
              <a:t> </a:t>
            </a:r>
            <a:r>
              <a:rPr lang="el-GR" b="1" dirty="0" err="1"/>
              <a:t>Ops</a:t>
            </a:r>
            <a:r>
              <a:rPr lang="el-GR" b="1" dirty="0"/>
              <a:t>):</a:t>
            </a:r>
            <a:r>
              <a:rPr lang="el-GR" dirty="0"/>
              <a:t> Προσφέρει άμεση εποπτεία της φυσικής κατάστασης του κάδου (επίπεδο πλήρωσης, βάρος) και καταγράφει σε πραγματικό χρόνο τον πλήρη κύκλο ζωής των ειδοποιήσεων (εμφάνιση, αναγνώριση, επίλυση) μέσω του REST API</a:t>
            </a:r>
          </a:p>
        </p:txBody>
      </p:sp>
    </p:spTree>
    <p:extLst>
      <p:ext uri="{BB962C8B-B14F-4D97-AF65-F5344CB8AC3E}">
        <p14:creationId xmlns:p14="http://schemas.microsoft.com/office/powerpoint/2010/main" val="6793521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1529</TotalTime>
  <Words>620</Words>
  <Application>Microsoft Office PowerPoint</Application>
  <PresentationFormat>Ευρεία οθόνη</PresentationFormat>
  <Paragraphs>56</Paragraphs>
  <Slides>9</Slides>
  <Notes>3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6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Times New Roman</vt:lpstr>
      <vt:lpstr>Trebuchet MS</vt:lpstr>
      <vt:lpstr>Wingdings 3</vt:lpstr>
      <vt:lpstr>Facet</vt:lpstr>
      <vt:lpstr>Smart Waste Bin ECE-CK801</vt:lpstr>
      <vt:lpstr>Project  Overview</vt:lpstr>
      <vt:lpstr>Containerized Services</vt:lpstr>
      <vt:lpstr>MQTT Connections</vt:lpstr>
      <vt:lpstr>Semantic Modeling</vt:lpstr>
      <vt:lpstr>REST + ASYNCAPI</vt:lpstr>
      <vt:lpstr>Virtual Sensors, Home Assistant and Low Code Platforms (1) </vt:lpstr>
      <vt:lpstr>Virtual Sensors, Home Assistant and Low Code Platforms (2) </vt:lpstr>
      <vt:lpstr>Virtual Sensors, Home Assistant and Low Code Platforms (3)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ΡΟΥΣΣΗΣ ΒΑΣΙΛΕΙΟΣ</cp:lastModifiedBy>
  <cp:revision>21</cp:revision>
  <dcterms:created xsi:type="dcterms:W3CDTF">2026-05-21T20:23:46Z</dcterms:created>
  <dcterms:modified xsi:type="dcterms:W3CDTF">2026-05-31T14:53:23Z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